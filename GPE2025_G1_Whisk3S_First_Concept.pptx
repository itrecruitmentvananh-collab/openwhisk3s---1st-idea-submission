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12192000"/>
  <p:embeddedFontLst>
    <p:embeddedFont>
      <p:font typeface="Play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gzQLgNp8vzi6+9LDgqWhVhoabd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E11D48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6481F8-6CCA-41B7-80BD-BE26959FB0A8}">
  <a:tblStyle styleId="{8F6481F8-6CCA-41B7-80BD-BE26959FB0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000000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000000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4f60d7de8fa72f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h4f60d7de8fa72f6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h4f60d7de8fa72f6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20725037@student.vgu.edu.vn" TargetMode="External"/><Relationship Id="rId3" Type="http://schemas.openxmlformats.org/officeDocument/2006/relationships/image" Target="../media/image1.png"/><Relationship Id="rId7" Type="http://schemas.openxmlformats.org/officeDocument/2006/relationships/hyperlink" Target="mailto:20725016@student.vg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20725024@student.vgu.edu.vn" TargetMode="External"/><Relationship Id="rId11" Type="http://schemas.openxmlformats.org/officeDocument/2006/relationships/image" Target="../media/image4.png"/><Relationship Id="rId5" Type="http://schemas.openxmlformats.org/officeDocument/2006/relationships/hyperlink" Target="mailto:20725017@student.vgu.edu.vn" TargetMode="External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mailto:20725018@student.vgu.edu.v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h4f60d7de8fa72f6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700" y="179925"/>
            <a:ext cx="1204274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h4f60d7de8fa72f68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0274" y="142413"/>
            <a:ext cx="993531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h4f60d7de8fa72f68_0_0"/>
          <p:cNvSpPr/>
          <p:nvPr/>
        </p:nvSpPr>
        <p:spPr>
          <a:xfrm>
            <a:off x="2476775" y="628790"/>
            <a:ext cx="58695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600" b="1">
                <a:solidFill>
                  <a:srgbClr val="1F4E79"/>
                </a:solidFill>
              </a:rPr>
              <a:t>GPE Project</a:t>
            </a:r>
            <a:endParaRPr sz="4600" b="1">
              <a:solidFill>
                <a:srgbClr val="1F4E79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4600" b="1">
              <a:solidFill>
                <a:srgbClr val="1F4E79"/>
              </a:solidFill>
            </a:endParaRPr>
          </a:p>
        </p:txBody>
      </p:sp>
      <p:sp>
        <p:nvSpPr>
          <p:cNvPr id="19" name="Google Shape;19;h4f60d7de8fa72f68_0_0"/>
          <p:cNvSpPr txBox="1"/>
          <p:nvPr/>
        </p:nvSpPr>
        <p:spPr>
          <a:xfrm>
            <a:off x="4644325" y="3019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h4f60d7de8fa72f68_0_0"/>
          <p:cNvSpPr txBox="1"/>
          <p:nvPr/>
        </p:nvSpPr>
        <p:spPr>
          <a:xfrm>
            <a:off x="3123143" y="1515560"/>
            <a:ext cx="44070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75316"/>
                </a:solidFill>
                <a:latin typeface="Arial"/>
                <a:ea typeface="Arial"/>
                <a:cs typeface="Arial"/>
                <a:sym typeface="Arial"/>
              </a:rPr>
              <a:t>GPE 2025 Presentation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1600" b="1">
              <a:solidFill>
                <a:srgbClr val="275316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1600" b="1" i="0" u="none" strike="noStrike" cap="none">
                <a:solidFill>
                  <a:srgbClr val="275316"/>
                </a:solidFill>
                <a:latin typeface="Arial"/>
                <a:ea typeface="Arial"/>
                <a:cs typeface="Arial"/>
                <a:sym typeface="Arial"/>
              </a:rPr>
              <a:t>Lecturer: </a:t>
            </a:r>
            <a:r>
              <a:rPr lang="en-US">
                <a:solidFill>
                  <a:schemeClr val="dk1"/>
                </a:solidFill>
              </a:rPr>
              <a:t>Valentin Eingartner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Felix von Amelunxen</a:t>
            </a:r>
            <a:endParaRPr sz="1600" b="1">
              <a:solidFill>
                <a:srgbClr val="275316"/>
              </a:solidFill>
            </a:endParaRPr>
          </a:p>
        </p:txBody>
      </p:sp>
      <p:graphicFrame>
        <p:nvGraphicFramePr>
          <p:cNvPr id="21" name="Google Shape;21;h4f60d7de8fa72f68_0_0"/>
          <p:cNvGraphicFramePr/>
          <p:nvPr/>
        </p:nvGraphicFramePr>
        <p:xfrm>
          <a:off x="925124" y="3513995"/>
          <a:ext cx="5487775" cy="1958420"/>
        </p:xfrm>
        <a:graphic>
          <a:graphicData uri="http://schemas.openxmlformats.org/drawingml/2006/table">
            <a:tbl>
              <a:tblPr>
                <a:noFill/>
                <a:tableStyleId>{8F6481F8-6CCA-41B7-80BD-BE26959FB0A8}</a:tableStyleId>
              </a:tblPr>
              <a:tblGrid>
                <a:gridCol w="57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/>
                        <a:t>No.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/>
                        <a:t>Full Name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1" u="none" strike="noStrike" cap="none"/>
                        <a:t>Email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Trần Thiên Nga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chemeClr val="hlink"/>
                          </a:solidFill>
                          <a:hlinkClick r:id="rId5"/>
                        </a:rPr>
                        <a:t>20725017@student.vgu.edu.vn</a:t>
                      </a:r>
                      <a:r>
                        <a:rPr lang="en-US" sz="1000"/>
                        <a:t> 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Lê Thị Vân Anh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chemeClr val="hlink"/>
                          </a:solidFill>
                          <a:hlinkClick r:id="rId6"/>
                        </a:rPr>
                        <a:t>20725024@student.vgu.edu.vn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Phạm Hoài Thương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chemeClr val="hlink"/>
                          </a:solidFill>
                          <a:hlinkClick r:id="rId7"/>
                        </a:rPr>
                        <a:t>20725016@student.vgu.edu.vn</a:t>
                      </a:r>
                      <a:r>
                        <a:rPr lang="en-US" sz="1000"/>
                        <a:t> 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Lê Văn Đông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chemeClr val="hlink"/>
                          </a:solidFill>
                        </a:rPr>
                        <a:t>20725002</a:t>
                      </a:r>
                      <a:r>
                        <a:rPr lang="en-US" sz="1000" u="sng">
                          <a:solidFill>
                            <a:schemeClr val="hlink"/>
                          </a:solidFill>
                          <a:hlinkClick r:id="rId8"/>
                        </a:rPr>
                        <a:t>@student.vgu.edu.vn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Võ Sỹ Hùng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chemeClr val="hlink"/>
                          </a:solidFill>
                          <a:hlinkClick r:id="rId9"/>
                        </a:rPr>
                        <a:t>20725018@student.vgu.edu.vn</a:t>
                      </a:r>
                      <a:r>
                        <a:rPr lang="en-US" sz="1000"/>
                        <a:t> 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Ngô Hoàng Quân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>
                          <a:solidFill>
                            <a:srgbClr val="0579D3"/>
                          </a:solidFill>
                        </a:rPr>
                        <a:t>20725003@student.vgu.edu.vn</a:t>
                      </a:r>
                      <a:endParaRPr sz="1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Trần Việt Tùng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sng" strike="noStrike" cap="none">
                          <a:solidFill>
                            <a:srgbClr val="0563C1"/>
                          </a:solidFill>
                        </a:rPr>
                        <a:t>2072</a:t>
                      </a:r>
                      <a:r>
                        <a:rPr lang="en-US" sz="1000" u="sng">
                          <a:solidFill>
                            <a:srgbClr val="0563C1"/>
                          </a:solidFill>
                        </a:rPr>
                        <a:t>4</a:t>
                      </a:r>
                      <a:r>
                        <a:rPr lang="en-US" sz="1000" u="sng" strike="noStrike" cap="none">
                          <a:solidFill>
                            <a:srgbClr val="0563C1"/>
                          </a:solidFill>
                        </a:rPr>
                        <a:t>0</a:t>
                      </a:r>
                      <a:r>
                        <a:rPr lang="en-US" sz="1000" u="sng">
                          <a:solidFill>
                            <a:srgbClr val="0563C1"/>
                          </a:solidFill>
                        </a:rPr>
                        <a:t>41</a:t>
                      </a:r>
                      <a:r>
                        <a:rPr lang="en-US" sz="1000" u="sng" strike="noStrike" cap="none">
                          <a:solidFill>
                            <a:srgbClr val="0563C1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@student.vgu.edu.vn</a:t>
                      </a:r>
                      <a:endParaRPr sz="1000" u="sng" strike="noStrike" cap="none">
                        <a:solidFill>
                          <a:srgbClr val="0563C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Google Shape;22;h4f60d7de8fa72f68_0_0"/>
          <p:cNvSpPr txBox="1"/>
          <p:nvPr/>
        </p:nvSpPr>
        <p:spPr>
          <a:xfrm>
            <a:off x="887612" y="3050536"/>
            <a:ext cx="440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275316"/>
                </a:solidFill>
              </a:rPr>
              <a:t>Group 1:</a:t>
            </a:r>
            <a:endParaRPr sz="1600" b="1">
              <a:solidFill>
                <a:srgbClr val="275316"/>
              </a:solidFill>
            </a:endParaRPr>
          </a:p>
        </p:txBody>
      </p:sp>
      <p:pic>
        <p:nvPicPr>
          <p:cNvPr id="23" name="Google Shape;23;h4f60d7de8fa72f68_0_0" title="Screenshot 2026-10-05 230008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-1" y="6337475"/>
            <a:ext cx="2371275" cy="5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h4f60d7de8fa72f68_0_0" title="Screenshot 2026-10-05 230308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18725" y="1574050"/>
            <a:ext cx="4757851" cy="47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0" y="841248"/>
            <a:ext cx="12191695" cy="1828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02920" y="22860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Play"/>
              <a:buNone/>
            </a:pPr>
            <a:r>
              <a:rPr lang="en-US" sz="2500" b="1" i="0" u="none" strike="noStrike" cap="non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Whisk3S — First Concept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12064" y="585216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modular open-source handheld kitchen mixer and milk frother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1" descr="/mnt/data/a_clean_studio_product_shot_on_a_plain_white_backg.png"/>
          <p:cNvPicPr preferRelativeResize="0"/>
          <p:nvPr/>
        </p:nvPicPr>
        <p:blipFill rotWithShape="1">
          <a:blip r:embed="rId3">
            <a:alphaModFix/>
          </a:blip>
          <a:srcRect l="8000" t="4000" r="21565" b="6000"/>
          <a:stretch/>
        </p:blipFill>
        <p:spPr>
          <a:xfrm>
            <a:off x="5897880" y="1042416"/>
            <a:ext cx="438912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566928" y="107899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40080" y="1161288"/>
            <a:ext cx="1316736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DRAFT IDEA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66928" y="15727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Short product description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85800" y="2121408"/>
            <a:ext cx="73152" cy="73152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850392" y="2057400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Compact handheld kitchen device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85800" y="2514600"/>
            <a:ext cx="73152" cy="73152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50392" y="2450592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Designed for mixing food and foaming milk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85800" y="2907792"/>
            <a:ext cx="73152" cy="73152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850392" y="284378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Uses interchangeable attachments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85800" y="3300984"/>
            <a:ext cx="73152" cy="73152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850392" y="3236976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20"/>
              <a:buFont typeface="Arial"/>
              <a:buNone/>
            </a:pPr>
            <a:r>
              <a:rPr lang="en-US" sz="122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Rechargeable and easy to use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658368" y="3950208"/>
            <a:ext cx="4983480" cy="960120"/>
          </a:xfrm>
          <a:prstGeom prst="roundRect">
            <a:avLst>
              <a:gd name="adj" fmla="val 3810"/>
            </a:avLst>
          </a:prstGeom>
          <a:solidFill>
            <a:srgbClr val="EAF3FA"/>
          </a:solidFill>
          <a:ln w="12700" cap="flat" cmpd="sng">
            <a:solidFill>
              <a:srgbClr val="C8E0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914400" y="416052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20"/>
              <a:buFont typeface="Arial"/>
              <a:buNone/>
            </a:pPr>
            <a:r>
              <a:rPr lang="en-US" sz="122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3S principle</a:t>
            </a:r>
            <a:endParaRPr sz="12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2057400" y="4160520"/>
            <a:ext cx="3108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30"/>
              <a:buFont typeface="Arial"/>
              <a:buNone/>
            </a:pPr>
            <a:r>
              <a:rPr lang="en-US" sz="13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Simple · Sustainable · Serviceable</a:t>
            </a:r>
            <a:endParaRPr sz="13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841248" y="5285232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250"/>
              <a:buFont typeface="Arial"/>
              <a:buNone/>
            </a:pPr>
            <a:r>
              <a:rPr lang="en-US" sz="1250" b="0" i="1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One device · multiple kitchen tasks · less equipment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20"/>
              <a:buFont typeface="Arial"/>
              <a:buNone/>
            </a:pPr>
            <a:r>
              <a:rPr lang="en-US" sz="920" b="0" i="1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Concept stage: final design, materials and technical specifications are not fixed yet.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title="Screenshot 2026-10-05 2300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6336800"/>
            <a:ext cx="2374355" cy="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0" y="841248"/>
            <a:ext cx="12191695" cy="1828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02920" y="22860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Play"/>
              <a:buNone/>
            </a:pPr>
            <a:r>
              <a:rPr lang="en-US" sz="2500" b="1" i="0" u="none" strike="noStrike" cap="non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Why Whisk3S Fits the Project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12064" y="585216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Project fit without fixing the final technical design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492240" y="1069848"/>
            <a:ext cx="4983480" cy="3657600"/>
          </a:xfrm>
          <a:prstGeom prst="roundRect">
            <a:avLst>
              <a:gd name="adj" fmla="val 1250"/>
            </a:avLst>
          </a:prstGeom>
          <a:solidFill>
            <a:srgbClr val="FAFAFA"/>
          </a:solidFill>
          <a:ln w="12700" cap="flat" cmpd="sng">
            <a:solidFill>
              <a:srgbClr val="E3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2" descr="/mnt/data/a_clean_studio_product_shot_on_a_plain_white_backg.png"/>
          <p:cNvPicPr preferRelativeResize="0"/>
          <p:nvPr/>
        </p:nvPicPr>
        <p:blipFill rotWithShape="1">
          <a:blip r:embed="rId3">
            <a:alphaModFix/>
          </a:blip>
          <a:srcRect l="5000" t="2000" r="21066" b="8000"/>
          <a:stretch/>
        </p:blipFill>
        <p:spPr>
          <a:xfrm>
            <a:off x="6812280" y="1316736"/>
            <a:ext cx="3305114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6858000" y="4462272"/>
            <a:ext cx="43434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880"/>
              <a:buFont typeface="Arial"/>
              <a:buNone/>
            </a:pPr>
            <a:r>
              <a:rPr lang="en-US" sz="880" b="0" i="1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visual direction only — final design not fixed</a:t>
            </a:r>
            <a:endParaRPr sz="8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66928" y="1115568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Why suitable for Open Circular Design?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94360" y="1627632"/>
            <a:ext cx="25146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94360" y="1627632"/>
            <a:ext cx="100584" cy="1170432"/>
          </a:xfrm>
          <a:prstGeom prst="rect">
            <a:avLst/>
          </a:prstGeom>
          <a:solidFill>
            <a:srgbClr val="4F7D4F"/>
          </a:solidFill>
          <a:ln w="12700" cap="flat" cmpd="sng">
            <a:solidFill>
              <a:srgbClr val="4F7D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13816" y="1828800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Circular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13816" y="2194560"/>
            <a:ext cx="2167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Repairable concept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Replaceable parts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Longer product life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364992" y="1627632"/>
            <a:ext cx="25146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3364992" y="1627632"/>
            <a:ext cx="100584" cy="1170432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584448" y="1828800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Modular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584448" y="2194560"/>
            <a:ext cx="2167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One device platform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Interchangeable tools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Future upgrades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94360" y="3127248"/>
            <a:ext cx="25146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594360" y="3127248"/>
            <a:ext cx="100584" cy="1170432"/>
          </a:xfrm>
          <a:prstGeom prst="rect">
            <a:avLst/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813816" y="3328416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813816" y="3694176"/>
            <a:ext cx="2167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CAD files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BOM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</a:pPr>
            <a:r>
              <a:rPr lang="en-US" sz="109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Assembly instructions</a:t>
            </a:r>
            <a:endParaRPr sz="10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364992" y="3127248"/>
            <a:ext cx="25146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3364992" y="3127248"/>
            <a:ext cx="100584" cy="1170432"/>
          </a:xfrm>
          <a:prstGeom prst="rect">
            <a:avLst/>
          </a:prstGeom>
          <a:solidFill>
            <a:srgbClr val="1F4E79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3584448" y="3328416"/>
            <a:ext cx="2167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30"/>
              <a:buFont typeface="Arial"/>
              <a:buNone/>
            </a:pPr>
            <a:r>
              <a:rPr lang="en-US" sz="14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Reproducible</a:t>
            </a:r>
            <a:endParaRPr sz="14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584448" y="3694176"/>
            <a:ext cx="216712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90"/>
              <a:buFont typeface="Arial"/>
              <a:buNone/>
              <a:defRPr sz="1300" b="1">
                <a:solidFill>
                  <a:srgbClr val="003366"/>
                </a:solidFill>
                <a:latin typeface="Calibri"/>
              </a:defRPr>
            </a:pPr>
            <a:r>
              <a:rPr dirty="0"/>
              <a:t>Food-Grade PP molded parts</a:t>
            </a:r>
            <a:endParaRPr sz="109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rPr dirty="0"/>
              <a:t>Standard parts &amp; simple assembly</a:t>
            </a:r>
          </a:p>
        </p:txBody>
      </p:sp>
      <p:sp>
        <p:nvSpPr>
          <p:cNvPr id="87" name="Google Shape;87;p2"/>
          <p:cNvSpPr/>
          <p:nvPr/>
        </p:nvSpPr>
        <p:spPr>
          <a:xfrm>
            <a:off x="1078992" y="5074920"/>
            <a:ext cx="9875520" cy="576072"/>
          </a:xfrm>
          <a:prstGeom prst="roundRect">
            <a:avLst>
              <a:gd name="adj" fmla="val 6349"/>
            </a:avLst>
          </a:prstGeom>
          <a:solidFill>
            <a:srgbClr val="F2F7FB"/>
          </a:solidFill>
          <a:ln w="12700" cap="flat" cmpd="sng">
            <a:solidFill>
              <a:srgbClr val="C8E0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1325880" y="5285232"/>
            <a:ext cx="93726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i="1">
                <a:latin typeface="Calibri"/>
              </a:defRPr>
            </a:pPr>
            <a:r>
              <a:t>Current design status: Handheld platform designed for thin-wall Food-Grade Polypropylene (PP, Code #5) injection molding, saving 45% resin to eliminate brittleness and guarantee food-contact hygiene (EU 10/2011 &amp; FDA).</a:t>
            </a:r>
          </a:p>
        </p:txBody>
      </p:sp>
      <p:sp>
        <p:nvSpPr>
          <p:cNvPr id="89" name="Google Shape;89;p2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20"/>
              <a:buFont typeface="Arial"/>
              <a:buNone/>
            </a:pPr>
            <a:r>
              <a:rPr lang="en-US" sz="920" b="0" i="1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This slide intentionally avoids detailed internal breakdown because Whisk3S is still a first concept.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 title="Screenshot 2026-10-05 2300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6336800"/>
            <a:ext cx="2374355" cy="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0" y="841248"/>
            <a:ext cx="12191695" cy="1828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02920" y="22860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Play"/>
              <a:buNone/>
            </a:pPr>
            <a:r>
              <a:rPr lang="en-US" sz="2500" b="1" i="0" u="none" strike="noStrike" cap="non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Functionality Analysis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12064" y="585216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Main functions, sub-functions and optional functions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66928" y="113385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Main functions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40080" y="1664208"/>
            <a:ext cx="25146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BFD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22960" y="1874520"/>
            <a:ext cx="21488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Mix food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474720" y="1664208"/>
            <a:ext cx="25146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BFD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3657600" y="1874520"/>
            <a:ext cx="21488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Foam milk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66928" y="278892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Sub-functions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517904" y="3767328"/>
            <a:ext cx="347472" cy="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3"/>
          <p:cNvCxnSpPr/>
          <p:nvPr/>
        </p:nvCxnSpPr>
        <p:spPr>
          <a:xfrm>
            <a:off x="2825496" y="3767328"/>
            <a:ext cx="347472" cy="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3"/>
          <p:cNvCxnSpPr/>
          <p:nvPr/>
        </p:nvCxnSpPr>
        <p:spPr>
          <a:xfrm>
            <a:off x="4133088" y="3767328"/>
            <a:ext cx="347472" cy="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3"/>
          <p:cNvCxnSpPr/>
          <p:nvPr/>
        </p:nvCxnSpPr>
        <p:spPr>
          <a:xfrm>
            <a:off x="5440680" y="3767328"/>
            <a:ext cx="347472" cy="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3"/>
          <p:cNvCxnSpPr/>
          <p:nvPr/>
        </p:nvCxnSpPr>
        <p:spPr>
          <a:xfrm>
            <a:off x="6748272" y="3767328"/>
            <a:ext cx="347472" cy="0"/>
          </a:xfrm>
          <a:prstGeom prst="straightConnector1">
            <a:avLst/>
          </a:prstGeom>
          <a:noFill/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114;p3"/>
          <p:cNvSpPr/>
          <p:nvPr/>
        </p:nvSpPr>
        <p:spPr>
          <a:xfrm>
            <a:off x="621792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7512" y="3575304"/>
            <a:ext cx="84124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Supply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929384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975104" y="3575304"/>
            <a:ext cx="84124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236976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282696" y="3575304"/>
            <a:ext cx="84124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544568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590288" y="3575304"/>
            <a:ext cx="8412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 dirty="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Transmit torque </a:t>
            </a: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to attachment</a:t>
            </a:r>
            <a:endParaRPr lang="en-US" sz="9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852160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897880" y="3575304"/>
            <a:ext cx="84124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Hold/change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attachment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159752" y="3438144"/>
            <a:ext cx="932688" cy="658368"/>
          </a:xfrm>
          <a:prstGeom prst="roundRect">
            <a:avLst>
              <a:gd name="adj" fmla="val 5556"/>
            </a:avLst>
          </a:prstGeom>
          <a:solidFill>
            <a:srgbClr val="E7F1DE"/>
          </a:solidFill>
          <a:ln w="12700" cap="flat" cmpd="sng">
            <a:solidFill>
              <a:srgbClr val="C7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205472" y="3575304"/>
            <a:ext cx="84124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Act on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60"/>
              <a:buFont typeface="Arial"/>
              <a:buNone/>
            </a:pPr>
            <a:r>
              <a:rPr lang="en-US" sz="96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food or milk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21792" y="4782312"/>
            <a:ext cx="33375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21792" y="4782312"/>
            <a:ext cx="100584" cy="822960"/>
          </a:xfrm>
          <a:prstGeom prst="rect">
            <a:avLst/>
          </a:prstGeom>
          <a:solidFill>
            <a:srgbClr val="4F7D4F"/>
          </a:solidFill>
          <a:ln w="12700" cap="flat" cmpd="sng">
            <a:solidFill>
              <a:srgbClr val="4F7D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841248" y="495604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Must-have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41248" y="52486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20"/>
              <a:buFont typeface="Arial"/>
              <a:buNone/>
            </a:pPr>
            <a:r>
              <a:rPr lang="en-US" sz="92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mixing · foaming · speed control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20"/>
              <a:buFont typeface="Arial"/>
              <a:buNone/>
            </a:pPr>
            <a:r>
              <a:rPr lang="en-US" sz="92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safe attachment · rechargeable power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343400" y="4782312"/>
            <a:ext cx="33375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343400" y="4782312"/>
            <a:ext cx="100584" cy="822960"/>
          </a:xfrm>
          <a:prstGeom prst="rect">
            <a:avLst/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562856" y="495604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Optional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562856" y="52486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20"/>
              <a:buFont typeface="Arial"/>
              <a:buNone/>
            </a:pPr>
            <a:r>
              <a:rPr lang="en-US" sz="92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additional attachments · charging dock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20"/>
              <a:buFont typeface="Arial"/>
              <a:buNone/>
            </a:pPr>
            <a:r>
              <a:rPr lang="en-US" sz="92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battery indicator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" descr="/mnt/data/a_warm_photorealistic_kitchen_countertop_scene_s.png"/>
          <p:cNvPicPr preferRelativeResize="0"/>
          <p:nvPr/>
        </p:nvPicPr>
        <p:blipFill rotWithShape="1">
          <a:blip r:embed="rId3">
            <a:alphaModFix/>
          </a:blip>
          <a:srcRect l="3882" r="3882"/>
          <a:stretch/>
        </p:blipFill>
        <p:spPr>
          <a:xfrm>
            <a:off x="8503920" y="1298448"/>
            <a:ext cx="269748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 descr="/mnt/data/a_cozy_warm_photorealistic_kitchen_countertop_sc.png"/>
          <p:cNvPicPr preferRelativeResize="0"/>
          <p:nvPr/>
        </p:nvPicPr>
        <p:blipFill rotWithShape="1">
          <a:blip r:embed="rId4">
            <a:alphaModFix/>
          </a:blip>
          <a:srcRect l="3882" r="3882"/>
          <a:stretch/>
        </p:blipFill>
        <p:spPr>
          <a:xfrm>
            <a:off x="8503920" y="3246120"/>
            <a:ext cx="269748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20"/>
              <a:buFont typeface="Arial"/>
              <a:buNone/>
            </a:pPr>
            <a:r>
              <a:rPr lang="en-US" sz="920" b="0" i="1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Applications such as beating eggs or frothing coffee are use cases; sub-functions describe what the device must technically do.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" title="Screenshot 2026-10-05 2300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" y="6386302"/>
            <a:ext cx="2148850" cy="47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841248"/>
            <a:ext cx="12191695" cy="1828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 dirty="0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02920" y="22860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Play"/>
              <a:buNone/>
            </a:pPr>
            <a:r>
              <a:rPr lang="en-US" sz="2500" b="1" i="0" u="none" strike="noStrike" cap="non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Preliminary Requirement List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12064" y="585216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Initial requirements for the first concept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13232" y="1234440"/>
            <a:ext cx="6400800" cy="4663440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13232" y="1234440"/>
            <a:ext cx="6400800" cy="402336"/>
          </a:xfrm>
          <a:prstGeom prst="rect">
            <a:avLst/>
          </a:prstGeom>
          <a:solidFill>
            <a:srgbClr val="1F4E79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960120" y="1371600"/>
            <a:ext cx="17373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743200" y="1371600"/>
            <a:ext cx="35661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Preliminary requirement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31520" y="1700784"/>
            <a:ext cx="6364224" cy="329184"/>
          </a:xfrm>
          <a:prstGeom prst="rect">
            <a:avLst/>
          </a:prstGeom>
          <a:solidFill>
            <a:srgbClr val="F7F9FB"/>
          </a:solidFill>
          <a:ln w="12700" cap="flat" cmpd="sng">
            <a:solidFill>
              <a:srgbClr val="F7F9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960120" y="1764792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743200" y="1764792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Mixing + milk foaming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60120" y="2148840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Modularity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743200" y="2148840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Interchangeable tools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31520" y="2468880"/>
            <a:ext cx="6364224" cy="329184"/>
          </a:xfrm>
          <a:prstGeom prst="rect">
            <a:avLst/>
          </a:prstGeom>
          <a:solidFill>
            <a:srgbClr val="F7F9FB"/>
          </a:solidFill>
          <a:ln w="12700" cap="flat" cmpd="sng">
            <a:solidFill>
              <a:srgbClr val="F7F9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960120" y="2532888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743200" y="2532888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Adjustable speed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960120" y="2916936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743200" y="2916936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Rechargeable operation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31520" y="3236976"/>
            <a:ext cx="6364224" cy="329184"/>
          </a:xfrm>
          <a:prstGeom prst="rect">
            <a:avLst/>
          </a:prstGeom>
          <a:solidFill>
            <a:srgbClr val="F7F9FB"/>
          </a:solidFill>
          <a:ln w="12700" cap="flat" cmpd="sng">
            <a:solidFill>
              <a:srgbClr val="F7F9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960120" y="3300984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2743200" y="3300984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Secure rotating parts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960120" y="3685032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2743200" y="3685032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100">
                <a:latin typeface="Calibri"/>
              </a:defRPr>
            </a:pPr>
            <a:r>
              <a:t>Food-contact parts: Dishwasher-safe Food-Grade PP &amp; 304 stainless</a:t>
            </a:r>
          </a:p>
        </p:txBody>
      </p:sp>
      <p:sp>
        <p:nvSpPr>
          <p:cNvPr id="169" name="Google Shape;169;p4"/>
          <p:cNvSpPr/>
          <p:nvPr/>
        </p:nvSpPr>
        <p:spPr>
          <a:xfrm>
            <a:off x="731520" y="4005072"/>
            <a:ext cx="6364224" cy="329184"/>
          </a:xfrm>
          <a:prstGeom prst="rect">
            <a:avLst/>
          </a:prstGeom>
          <a:solidFill>
            <a:srgbClr val="F7F9FB"/>
          </a:solidFill>
          <a:ln w="12700" cap="flat" cmpd="sng">
            <a:solidFill>
              <a:srgbClr val="F7F9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960120" y="4069080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Repair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743200" y="4069080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Easy to disassemble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60120" y="4453128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2743200" y="4453128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CAD + BOM + instructions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31520" y="4773168"/>
            <a:ext cx="6364224" cy="329184"/>
          </a:xfrm>
          <a:prstGeom prst="rect">
            <a:avLst/>
          </a:prstGeom>
          <a:solidFill>
            <a:srgbClr val="F7F9FB"/>
          </a:solidFill>
          <a:ln w="12700" cap="flat" cmpd="sng">
            <a:solidFill>
              <a:srgbClr val="F7F9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960120" y="4837176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743200" y="4837176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100" b="1">
                <a:latin typeface="Calibri"/>
              </a:defRPr>
            </a:pPr>
            <a:r>
              <a:t>Thin-wall injection mold (Food-Grade PP, 45% resin saving)</a:t>
            </a:r>
          </a:p>
        </p:txBody>
      </p:sp>
      <p:sp>
        <p:nvSpPr>
          <p:cNvPr id="177" name="Google Shape;177;p4"/>
          <p:cNvSpPr/>
          <p:nvPr/>
        </p:nvSpPr>
        <p:spPr>
          <a:xfrm>
            <a:off x="960120" y="5221224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743200" y="5221224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Below €200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635240" y="1353312"/>
            <a:ext cx="3749040" cy="1234440"/>
          </a:xfrm>
          <a:prstGeom prst="roundRect">
            <a:avLst>
              <a:gd name="adj" fmla="val 2963"/>
            </a:avLst>
          </a:prstGeom>
          <a:solidFill>
            <a:srgbClr val="F2F7FB"/>
          </a:solidFill>
          <a:ln w="12700" cap="flat" cmpd="sng">
            <a:solidFill>
              <a:srgbClr val="C8E0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909560" y="157276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909560" y="192938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47500" lnSpcReduction="20000"/>
          </a:bodyPr>
          <a:lstStyle/>
          <a:p>
            <a:pPr>
              <a:defRPr sz="1050">
                <a:latin typeface="Calibri"/>
              </a:defRPr>
            </a:pPr>
            <a:r>
              <a:t>compact · one-hand use</a:t>
            </a:r>
          </a:p>
          <a:p>
            <a:r>
              <a:t>non-brittle Food-Grade PP · standard fasteners · replaceable wear parts</a:t>
            </a:r>
          </a:p>
        </p:txBody>
      </p:sp>
      <p:sp>
        <p:nvSpPr>
          <p:cNvPr id="182" name="Google Shape;182;p4"/>
          <p:cNvSpPr/>
          <p:nvPr/>
        </p:nvSpPr>
        <p:spPr>
          <a:xfrm>
            <a:off x="7635240" y="2980944"/>
            <a:ext cx="3749040" cy="1234440"/>
          </a:xfrm>
          <a:prstGeom prst="roundRect">
            <a:avLst>
              <a:gd name="adj" fmla="val 2963"/>
            </a:avLst>
          </a:prstGeom>
          <a:solidFill>
            <a:srgbClr val="FFF7ED"/>
          </a:solidFill>
          <a:ln w="12700" cap="flat" cmpd="sng">
            <a:solidFill>
              <a:srgbClr val="EBC9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909560" y="320040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46B2B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7909560" y="35570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charging dock · extra tools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alternative materials · community add-ons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7635240" y="4617720"/>
            <a:ext cx="3749040" cy="713232"/>
          </a:xfrm>
          <a:prstGeom prst="roundRect">
            <a:avLst>
              <a:gd name="adj" fmla="val 5128"/>
            </a:avLst>
          </a:prstGeom>
          <a:solidFill>
            <a:srgbClr val="F8F8F8"/>
          </a:solidFill>
          <a:ln w="12700" cap="flat" cmpd="sng">
            <a:solidFill>
              <a:srgbClr val="DED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7936992" y="4855464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6B75"/>
              </a:buClr>
              <a:buSzPts val="1040"/>
              <a:buFont typeface="Arial"/>
              <a:buNone/>
            </a:pPr>
            <a:r>
              <a:rPr lang="en-US" sz="1040" b="0" i="1" u="none" strike="noStrike" cap="none">
                <a:solidFill>
                  <a:srgbClr val="5F6B75"/>
                </a:solidFill>
                <a:latin typeface="Arial"/>
                <a:ea typeface="Arial"/>
                <a:cs typeface="Arial"/>
                <a:sym typeface="Arial"/>
              </a:rPr>
              <a:t>Requirements are preliminary and will be refined after feasibility review and testing.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20"/>
              <a:buFont typeface="Arial"/>
              <a:buNone/>
            </a:pPr>
            <a:r>
              <a:rPr lang="en-US" sz="920" b="0" i="1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The requirement list avoids fixed technical choices at this early stage.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4" title="Screenshot 2026-10-05 230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64225"/>
            <a:ext cx="2249414" cy="4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GPE Project 2026/27 — Open Source Hardware for a Circular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Calibri"/>
              </a:defRPr>
            </a:pPr>
            <a:r>
              <a:t>Circular Economy: The R-Strategies Framework</a:t>
            </a:r>
          </a:p>
          <a:p>
            <a:pPr>
              <a:defRPr sz="1100" i="1">
                <a:solidFill>
                  <a:srgbClr val="334155"/>
                </a:solidFill>
                <a:latin typeface="Calibri"/>
              </a:defRPr>
            </a:pPr>
            <a:r>
              <a:t>Operationalizing Open Circular Design: How OpenWhisk 3S applies R0 to R8 to eliminate small kitchen appliance waste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599"/>
            <a:ext cx="2084831" cy="35543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084831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73152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R0 · REFUSE
</a:t>
            </a:r>
          </a:p>
          <a:p>
            <a:pPr algn="ctr"/>
            <a:r>
              <a:rPr sz="850" i="1">
                <a:solidFill>
                  <a:srgbClr val="FFFFFF"/>
                </a:solidFill>
                <a:latin typeface="Calibri"/>
              </a:rPr>
              <a:t>Từ chối lãng phí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1901951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E11D48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Refuse single-use AAA batteries (eliminating toxic chemical disposal).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E11D48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Refuse permanent ultrasonic welding &amp; toxic glues.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E11D48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Refuse non-replaceable soldered batteries.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3" y="1371600"/>
            <a:ext cx="2084831" cy="355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2343" y="1371600"/>
            <a:ext cx="2084831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73152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R2 · REDUCE
</a:t>
            </a:r>
          </a:p>
          <a:p>
            <a:pPr algn="ctr"/>
            <a:r>
              <a:rPr sz="850" i="1">
                <a:solidFill>
                  <a:srgbClr val="FFFFFF"/>
                </a:solidFill>
                <a:latin typeface="Calibri"/>
              </a:rPr>
              <a:t>Tiết giảm vật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3" y="2240280"/>
            <a:ext cx="1901951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D97706"/>
                </a:solidFill>
              </a:rPr>
              <a:t>•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Resin </a:t>
            </a:r>
            <a:r>
              <a:rPr dirty="0">
                <a:solidFill>
                  <a:srgbClr val="334155"/>
                </a:solidFill>
                <a:latin typeface="Calibri"/>
              </a:rPr>
              <a:t>Saving via thin-wall mol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d  (</a:t>
            </a:r>
            <a:r>
              <a:rPr lang="en-US" dirty="0" err="1">
                <a:solidFill>
                  <a:srgbClr val="334155"/>
                </a:solidFill>
                <a:latin typeface="Calibri"/>
              </a:rPr>
              <a:t>modling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R&amp;D)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D97706"/>
                </a:solidFill>
              </a:rPr>
              <a:t>•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Minimalist part count: custom parts (saving of components ratio).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D97706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Prototype BOM cost only 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around </a:t>
            </a:r>
            <a:r>
              <a:rPr dirty="0">
                <a:solidFill>
                  <a:srgbClr val="334155"/>
                </a:solidFill>
                <a:latin typeface="Calibri"/>
              </a:rPr>
              <a:t>21.30</a:t>
            </a:r>
            <a:r>
              <a:rPr lang="en-US" dirty="0">
                <a:solidFill>
                  <a:srgbClr val="334155"/>
                </a:solidFill>
                <a:latin typeface="Calibri"/>
              </a:rPr>
              <a:t> - 25</a:t>
            </a:r>
            <a:r>
              <a:rPr dirty="0">
                <a:solidFill>
                  <a:srgbClr val="334155"/>
                </a:solidFill>
                <a:latin typeface="Calibri"/>
              </a:rPr>
              <a:t> 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6" y="1371601"/>
            <a:ext cx="2084831" cy="355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01766" y="1371600"/>
            <a:ext cx="2084831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73152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R3 · REUSE
</a:t>
            </a:r>
          </a:p>
          <a:p>
            <a:pPr algn="ctr"/>
            <a:r>
              <a:rPr sz="850" i="1">
                <a:solidFill>
                  <a:srgbClr val="FFFFFF"/>
                </a:solidFill>
                <a:latin typeface="Calibri"/>
              </a:rPr>
              <a:t>Tái sử dụng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6" y="2240280"/>
            <a:ext cx="1901951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Standard 18650 Li-ion cell (allows reusing cells from old laptops/e-bikes).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Standard Mabuchi FF-180SH micro-motor (readily swappable across devices).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2563EB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Modular desktop dock doubles as desk organizer.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189" y="1371600"/>
            <a:ext cx="2084831" cy="3554361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51189" y="1371600"/>
            <a:ext cx="2084831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73152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R4 · REPAIR
</a:t>
            </a:r>
          </a:p>
          <a:p>
            <a:pPr algn="ctr"/>
            <a:r>
              <a:rPr sz="850" i="1">
                <a:solidFill>
                  <a:srgbClr val="FFFFFF"/>
                </a:solidFill>
                <a:latin typeface="Calibri"/>
              </a:rPr>
              <a:t>Dễ dàng sửa chữa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29" y="2240280"/>
            <a:ext cx="1901951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16A34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10-Second Battery Swap: twist-off cap + solderless nickel spring contacts.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16A34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Single-Tool Teardown in &lt;3 mins using only 1 standard PH1 screwdriver.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16A34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Sacrificial drive collet reprints in 20 mins for 0.15 €.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2" y="1371600"/>
            <a:ext cx="2084831" cy="3623187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0612" y="1371600"/>
            <a:ext cx="2084831" cy="7772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73152" rIns="4572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R8 · RECYCLE
</a:t>
            </a:r>
          </a:p>
          <a:p>
            <a:pPr algn="ctr"/>
            <a:r>
              <a:rPr sz="850" i="1">
                <a:solidFill>
                  <a:srgbClr val="FFFFFF"/>
                </a:solidFill>
                <a:latin typeface="Calibri"/>
              </a:rPr>
              <a:t>Tái chế tuần hoàn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2052" y="2240280"/>
            <a:ext cx="1901951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dirty="0">
                <a:solidFill>
                  <a:srgbClr val="9333E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100% Mono-Material: Food-Grade Polypropylene (PP, Code #5 ♷).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9333E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Embossed &gt;PP&lt; mark for single-stream mechanical recycling.</a:t>
            </a:r>
          </a:p>
          <a:p>
            <a:pPr>
              <a:spcAft>
                <a:spcPts val="600"/>
              </a:spcAft>
            </a:pPr>
            <a:r>
              <a:rPr b="1" dirty="0">
                <a:solidFill>
                  <a:srgbClr val="9333EA"/>
                </a:solidFill>
              </a:rPr>
              <a:t>• </a:t>
            </a:r>
            <a:r>
              <a:rPr dirty="0">
                <a:solidFill>
                  <a:srgbClr val="334155"/>
                </a:solidFill>
                <a:latin typeface="Calibri"/>
              </a:rPr>
              <a:t>Zero composite plastics; clean separation of metal, lithium, and plastic.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11082528" cy="4231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3366"/>
                </a:solidFill>
                <a:latin typeface="Calibri"/>
              </a:defRPr>
            </a:pPr>
            <a:r>
              <a:rPr dirty="0"/>
              <a:t>CIRCULAR TAKEAWAY (TÁC ĐỘNG TUẦN HOÀN CỐT LÕI):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rPr dirty="0"/>
              <a:t>Conventional kitchen </a:t>
            </a:r>
            <a:r>
              <a:rPr dirty="0" err="1"/>
              <a:t>frothers</a:t>
            </a:r>
            <a:r>
              <a:rPr dirty="0"/>
              <a:t> end up in landfills due to ultrasonically welded casings and dead batteries. </a:t>
            </a:r>
            <a:r>
              <a:rPr dirty="0" err="1"/>
              <a:t>OpenWhisk</a:t>
            </a:r>
            <a:r>
              <a:rPr dirty="0"/>
              <a:t> 3S tackles the EU WEEE electronic waste stream by isolating wear parts, enabling non-destructive repair with 1 tool, and closing the material loop with 100% recyclable Food-Grade Polypropylene.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23" name="Google Shape;137;p3" title="Screenshot 2026-10-05 230008.png">
            <a:extLst>
              <a:ext uri="{FF2B5EF4-FFF2-40B4-BE49-F238E27FC236}">
                <a16:creationId xmlns:a16="http://schemas.microsoft.com/office/drawing/2014/main" id="{9F90D57B-357E-6FB4-156B-6B832E15A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76469"/>
            <a:ext cx="2148850" cy="47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45;p4">
            <a:extLst>
              <a:ext uri="{FF2B5EF4-FFF2-40B4-BE49-F238E27FC236}">
                <a16:creationId xmlns:a16="http://schemas.microsoft.com/office/drawing/2014/main" id="{36C33DA9-D3B2-6F30-3CFE-D91DF892F4A0}"/>
              </a:ext>
            </a:extLst>
          </p:cNvPr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46;p4">
            <a:extLst>
              <a:ext uri="{FF2B5EF4-FFF2-40B4-BE49-F238E27FC236}">
                <a16:creationId xmlns:a16="http://schemas.microsoft.com/office/drawing/2014/main" id="{9B66D2DA-06DE-3A11-E100-20CCECF69599}"/>
              </a:ext>
            </a:extLst>
          </p:cNvPr>
          <p:cNvSpPr/>
          <p:nvPr/>
        </p:nvSpPr>
        <p:spPr>
          <a:xfrm>
            <a:off x="11128248" y="6522649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 dirty="0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0" y="841248"/>
            <a:ext cx="12191695" cy="1828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3520440" y="6537960"/>
            <a:ext cx="4160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98D5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4D98D5"/>
                </a:solidFill>
                <a:latin typeface="Arial"/>
                <a:ea typeface="Arial"/>
                <a:cs typeface="Arial"/>
                <a:sym typeface="Arial"/>
              </a:rPr>
              <a:t>GPE Project 2026/27 — Open Source Hardware for a Circular Economy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881360" y="64739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6B2B"/>
              </a:buClr>
              <a:buSzPts val="1300"/>
              <a:buFont typeface="Play"/>
              <a:buNone/>
            </a:pPr>
            <a:r>
              <a:rPr lang="en-US" sz="1300" b="1" i="0" u="none" strike="noStrike" cap="none">
                <a:solidFill>
                  <a:srgbClr val="C46B2B"/>
                </a:solidFill>
                <a:latin typeface="Play"/>
                <a:ea typeface="Play"/>
                <a:cs typeface="Play"/>
                <a:sym typeface="Play"/>
              </a:rPr>
              <a:t>VGU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1722608" y="6528816"/>
            <a:ext cx="25603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02920" y="22860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Play"/>
              <a:buNone/>
            </a:pPr>
            <a:r>
              <a:rPr lang="en-US" sz="2500" b="1" i="0" u="none" strike="noStrike" cap="none">
                <a:solidFill>
                  <a:srgbClr val="111111"/>
                </a:solidFill>
                <a:latin typeface="Play"/>
                <a:ea typeface="Play"/>
                <a:cs typeface="Play"/>
                <a:sym typeface="Play"/>
              </a:rPr>
              <a:t>OpenWhisk 3S: 1-Month Project Plan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12064" y="585216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October 04 – November 08, 2026 · Phase 1 sprint to M3 design freeze &amp; repository swap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66928" y="1078992"/>
            <a:ext cx="21945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20"/>
              <a:buFont typeface="Arial"/>
              <a:buNone/>
            </a:pPr>
            <a:r>
              <a:rPr lang="en-US" sz="102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Work package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154680" y="1024128"/>
            <a:ext cx="1536192" cy="493776"/>
          </a:xfrm>
          <a:prstGeom prst="rect">
            <a:avLst/>
          </a:prstGeom>
          <a:solidFill>
            <a:srgbClr val="F1F1F1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172968" y="1143000"/>
            <a:ext cx="149961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W1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Oct 04–11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690872" y="1024128"/>
            <a:ext cx="1536192" cy="493776"/>
          </a:xfrm>
          <a:prstGeom prst="rect">
            <a:avLst/>
          </a:prstGeom>
          <a:solidFill>
            <a:srgbClr val="F1F1F1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709160" y="1143000"/>
            <a:ext cx="149961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W2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Oct 12–18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227064" y="1024128"/>
            <a:ext cx="1536192" cy="493776"/>
          </a:xfrm>
          <a:prstGeom prst="rect">
            <a:avLst/>
          </a:prstGeom>
          <a:solidFill>
            <a:srgbClr val="F1F1F1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6245352" y="1143000"/>
            <a:ext cx="149961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W3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Oct 19–25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763256" y="1024128"/>
            <a:ext cx="1536192" cy="493776"/>
          </a:xfrm>
          <a:prstGeom prst="rect">
            <a:avLst/>
          </a:prstGeom>
          <a:solidFill>
            <a:srgbClr val="F1F1F1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781544" y="1143000"/>
            <a:ext cx="149961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W4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Oct 26–Nov 01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9299448" y="1024128"/>
            <a:ext cx="1536192" cy="493776"/>
          </a:xfrm>
          <a:prstGeom prst="rect">
            <a:avLst/>
          </a:prstGeom>
          <a:solidFill>
            <a:srgbClr val="F1F1F1"/>
          </a:solidFill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9317736" y="1143000"/>
            <a:ext cx="149961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W5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Nov 02–08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75488" y="1645920"/>
            <a:ext cx="10561320" cy="4114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FAFA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566928" y="1764792"/>
            <a:ext cx="2679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1. </a:t>
            </a:r>
            <a:r>
              <a:rPr lang="en-US" dirty="0"/>
              <a:t>Project management + platform (</a:t>
            </a:r>
            <a:r>
              <a:rPr dirty="0"/>
              <a:t>Vân Anh)</a:t>
            </a:r>
          </a:p>
        </p:txBody>
      </p:sp>
      <p:sp>
        <p:nvSpPr>
          <p:cNvPr id="214" name="Google Shape;214;p5"/>
          <p:cNvSpPr/>
          <p:nvPr/>
        </p:nvSpPr>
        <p:spPr>
          <a:xfrm>
            <a:off x="3246119" y="1719072"/>
            <a:ext cx="7571231" cy="219456"/>
          </a:xfrm>
          <a:prstGeom prst="roundRect">
            <a:avLst>
              <a:gd name="adj" fmla="val 13043"/>
            </a:avLst>
          </a:prstGeom>
          <a:solidFill>
            <a:srgbClr val="EA580C"/>
          </a:solidFill>
          <a:ln w="12700" cap="flat" cmpd="sng">
            <a:solidFill>
              <a:srgbClr val="4F7D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566928" y="2176272"/>
            <a:ext cx="26060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0000" lnSpcReduction="20000"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2. Sourcing &amp; BOM Costing (</a:t>
            </a:r>
            <a:r>
              <a:rPr dirty="0" err="1"/>
              <a:t>Thiên</a:t>
            </a:r>
            <a:r>
              <a:rPr dirty="0"/>
              <a:t> Nga)</a:t>
            </a:r>
          </a:p>
        </p:txBody>
      </p:sp>
      <p:sp>
        <p:nvSpPr>
          <p:cNvPr id="216" name="Google Shape;216;p5"/>
          <p:cNvSpPr/>
          <p:nvPr/>
        </p:nvSpPr>
        <p:spPr>
          <a:xfrm>
            <a:off x="5161937" y="2139696"/>
            <a:ext cx="2601320" cy="210312"/>
          </a:xfrm>
          <a:prstGeom prst="roundRect">
            <a:avLst>
              <a:gd name="adj" fmla="val 13043"/>
            </a:avLst>
          </a:prstGeom>
          <a:solidFill>
            <a:srgbClr val="E11D48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475488" y="2468880"/>
            <a:ext cx="10561320" cy="4114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FAFA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566927" y="2596896"/>
            <a:ext cx="2770633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3. Mechanical CAD &amp; </a:t>
            </a:r>
            <a:r>
              <a:rPr dirty="0" err="1"/>
              <a:t>DfIM</a:t>
            </a:r>
            <a:r>
              <a:rPr dirty="0"/>
              <a:t> (</a:t>
            </a:r>
            <a:r>
              <a:rPr dirty="0" err="1"/>
              <a:t>Tùng</a:t>
            </a:r>
            <a:r>
              <a:rPr dirty="0"/>
              <a:t> &amp; </a:t>
            </a:r>
            <a:r>
              <a:rPr dirty="0" err="1"/>
              <a:t>Quân</a:t>
            </a:r>
            <a:r>
              <a:rPr lang="en-US" dirty="0"/>
              <a:t> &amp; </a:t>
            </a:r>
            <a:r>
              <a:rPr lang="en-US" dirty="0" err="1"/>
              <a:t>Đông</a:t>
            </a:r>
            <a:r>
              <a:rPr lang="en-US" dirty="0"/>
              <a:t> &amp; </a:t>
            </a:r>
            <a:r>
              <a:rPr lang="en-US" dirty="0" err="1"/>
              <a:t>Hùng</a:t>
            </a:r>
            <a:r>
              <a:rPr dirty="0"/>
              <a:t>)</a:t>
            </a:r>
          </a:p>
        </p:txBody>
      </p:sp>
      <p:sp>
        <p:nvSpPr>
          <p:cNvPr id="219" name="Google Shape;219;p5"/>
          <p:cNvSpPr/>
          <p:nvPr/>
        </p:nvSpPr>
        <p:spPr>
          <a:xfrm>
            <a:off x="3355849" y="2578608"/>
            <a:ext cx="3549698" cy="182880"/>
          </a:xfrm>
          <a:prstGeom prst="roundRect">
            <a:avLst>
              <a:gd name="adj" fmla="val 13043"/>
            </a:avLst>
          </a:prstGeom>
          <a:solidFill>
            <a:srgbClr val="2563E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566927" y="2999232"/>
            <a:ext cx="2770631" cy="17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4. Mold Dev. &amp; Test (</a:t>
            </a:r>
            <a:r>
              <a:rPr dirty="0" err="1"/>
              <a:t>Hùng</a:t>
            </a:r>
            <a:r>
              <a:rPr lang="en-US" dirty="0"/>
              <a:t> &amp; </a:t>
            </a:r>
            <a:r>
              <a:rPr lang="en-US" dirty="0" err="1"/>
              <a:t>Tùng</a:t>
            </a:r>
            <a:r>
              <a:rPr lang="en-US" dirty="0"/>
              <a:t> &amp; </a:t>
            </a:r>
            <a:r>
              <a:rPr lang="en-US" dirty="0" err="1"/>
              <a:t>Quân</a:t>
            </a:r>
            <a:r>
              <a:rPr lang="en-US" dirty="0"/>
              <a:t>  &amp; </a:t>
            </a:r>
            <a:r>
              <a:rPr lang="en-US" dirty="0" err="1"/>
              <a:t>Đông</a:t>
            </a:r>
            <a:r>
              <a:rPr dirty="0"/>
              <a:t>)</a:t>
            </a:r>
          </a:p>
        </p:txBody>
      </p:sp>
      <p:sp>
        <p:nvSpPr>
          <p:cNvPr id="221" name="Google Shape;221;p5"/>
          <p:cNvSpPr/>
          <p:nvPr/>
        </p:nvSpPr>
        <p:spPr>
          <a:xfrm>
            <a:off x="3355846" y="2944368"/>
            <a:ext cx="3549700" cy="228600"/>
          </a:xfrm>
          <a:prstGeom prst="roundRect">
            <a:avLst>
              <a:gd name="adj" fmla="val 13043"/>
            </a:avLst>
          </a:prstGeom>
          <a:solidFill>
            <a:srgbClr val="0D9488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475488" y="3291840"/>
            <a:ext cx="10561320" cy="4114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FAFA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566928" y="3410712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5. Docs &amp; Assembly Manual (</a:t>
            </a:r>
            <a:r>
              <a:rPr dirty="0" err="1"/>
              <a:t>Thương</a:t>
            </a:r>
            <a:r>
              <a:rPr lang="en-US" dirty="0"/>
              <a:t> &amp; Vân Anh</a:t>
            </a:r>
            <a:r>
              <a:rPr dirty="0"/>
              <a:t>)</a:t>
            </a:r>
          </a:p>
        </p:txBody>
      </p:sp>
      <p:sp>
        <p:nvSpPr>
          <p:cNvPr id="224" name="Google Shape;224;p5"/>
          <p:cNvSpPr/>
          <p:nvPr/>
        </p:nvSpPr>
        <p:spPr>
          <a:xfrm>
            <a:off x="3246120" y="3374136"/>
            <a:ext cx="7498079" cy="210312"/>
          </a:xfrm>
          <a:prstGeom prst="roundRect">
            <a:avLst>
              <a:gd name="adj" fmla="val 13043"/>
            </a:avLst>
          </a:prstGeom>
          <a:solidFill>
            <a:srgbClr val="9333EA"/>
          </a:solidFill>
          <a:ln w="12700" cap="flat" cmpd="sng">
            <a:solidFill>
              <a:srgbClr val="4F7D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566928" y="3822192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defRPr sz="1000" b="1">
                <a:latin typeface="Calibri"/>
              </a:defRPr>
            </a:pPr>
            <a:r>
              <a:rPr dirty="0"/>
              <a:t>6. Compliance QA (</a:t>
            </a:r>
            <a:r>
              <a:rPr dirty="0" err="1"/>
              <a:t>Thiên</a:t>
            </a:r>
            <a:r>
              <a:rPr dirty="0"/>
              <a:t> Nga</a:t>
            </a:r>
            <a:r>
              <a:rPr lang="en-US" dirty="0"/>
              <a:t> &amp; </a:t>
            </a:r>
            <a:r>
              <a:rPr lang="en-US" dirty="0" err="1"/>
              <a:t>Thương</a:t>
            </a:r>
            <a:r>
              <a:rPr dirty="0"/>
              <a:t>)</a:t>
            </a:r>
          </a:p>
        </p:txBody>
      </p:sp>
      <p:sp>
        <p:nvSpPr>
          <p:cNvPr id="226" name="Google Shape;226;p5"/>
          <p:cNvSpPr/>
          <p:nvPr/>
        </p:nvSpPr>
        <p:spPr>
          <a:xfrm>
            <a:off x="4782312" y="3785616"/>
            <a:ext cx="5961888" cy="210312"/>
          </a:xfrm>
          <a:prstGeom prst="roundRect">
            <a:avLst>
              <a:gd name="adj" fmla="val 13043"/>
            </a:avLst>
          </a:prstGeom>
          <a:solidFill>
            <a:srgbClr val="16A34A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75488" y="4114800"/>
            <a:ext cx="10561320" cy="4114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FAFA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66928" y="4233672"/>
            <a:ext cx="2606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rPr dirty="0"/>
              <a:t>★ M2 Review </a:t>
            </a:r>
            <a:r>
              <a:rPr lang="en-US" dirty="0"/>
              <a:t>(Vân Anh &amp; Nga)</a:t>
            </a:r>
            <a:endParaRPr dirty="0"/>
          </a:p>
        </p:txBody>
      </p:sp>
      <p:sp>
        <p:nvSpPr>
          <p:cNvPr id="229" name="Google Shape;229;p5"/>
          <p:cNvSpPr/>
          <p:nvPr/>
        </p:nvSpPr>
        <p:spPr>
          <a:xfrm>
            <a:off x="6318504" y="4197096"/>
            <a:ext cx="1353312" cy="210312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566928" y="4645152"/>
            <a:ext cx="260604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0000" lnSpcReduction="20000"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rPr dirty="0"/>
              <a:t>★ M3 Repo Swap Handover (</a:t>
            </a:r>
            <a:r>
              <a:rPr lang="en-US" dirty="0"/>
              <a:t>Whole </a:t>
            </a:r>
            <a:r>
              <a:rPr dirty="0"/>
              <a:t>Team)</a:t>
            </a:r>
          </a:p>
        </p:txBody>
      </p:sp>
      <p:sp>
        <p:nvSpPr>
          <p:cNvPr id="231" name="Google Shape;231;p5"/>
          <p:cNvSpPr/>
          <p:nvPr/>
        </p:nvSpPr>
        <p:spPr>
          <a:xfrm>
            <a:off x="9390888" y="4608576"/>
            <a:ext cx="1353312" cy="210312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2" name="Google Shape;232;p5"/>
          <p:cNvCxnSpPr/>
          <p:nvPr/>
        </p:nvCxnSpPr>
        <p:spPr>
          <a:xfrm>
            <a:off x="3154680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5"/>
          <p:cNvCxnSpPr/>
          <p:nvPr/>
        </p:nvCxnSpPr>
        <p:spPr>
          <a:xfrm>
            <a:off x="4690872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5"/>
          <p:cNvCxnSpPr/>
          <p:nvPr/>
        </p:nvCxnSpPr>
        <p:spPr>
          <a:xfrm>
            <a:off x="6227064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5"/>
          <p:cNvCxnSpPr/>
          <p:nvPr/>
        </p:nvCxnSpPr>
        <p:spPr>
          <a:xfrm>
            <a:off x="7763256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5"/>
          <p:cNvCxnSpPr/>
          <p:nvPr/>
        </p:nvCxnSpPr>
        <p:spPr>
          <a:xfrm>
            <a:off x="9299448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5"/>
          <p:cNvCxnSpPr/>
          <p:nvPr/>
        </p:nvCxnSpPr>
        <p:spPr>
          <a:xfrm>
            <a:off x="10835640" y="1024128"/>
            <a:ext cx="0" cy="3977640"/>
          </a:xfrm>
          <a:prstGeom prst="straightConnector1">
            <a:avLst/>
          </a:prstGeom>
          <a:noFill/>
          <a:ln w="12700" cap="flat" cmpd="sng">
            <a:solidFill>
              <a:srgbClr val="DADA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5"/>
          <p:cNvSpPr/>
          <p:nvPr/>
        </p:nvSpPr>
        <p:spPr>
          <a:xfrm>
            <a:off x="566928" y="5532120"/>
            <a:ext cx="14173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5"/>
          <p:cNvCxnSpPr/>
          <p:nvPr/>
        </p:nvCxnSpPr>
        <p:spPr>
          <a:xfrm>
            <a:off x="2121408" y="5797296"/>
            <a:ext cx="8412480" cy="0"/>
          </a:xfrm>
          <a:prstGeom prst="straightConnector1">
            <a:avLst/>
          </a:prstGeom>
          <a:noFill/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" name="Google Shape;240;p5"/>
          <p:cNvSpPr/>
          <p:nvPr/>
        </p:nvSpPr>
        <p:spPr>
          <a:xfrm>
            <a:off x="2048256" y="5724144"/>
            <a:ext cx="146304" cy="146304"/>
          </a:xfrm>
          <a:prstGeom prst="ellipse">
            <a:avLst/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1572768" y="5934456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M1 — 04.10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389888" y="6089904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62500" lnSpcReduction="20000"/>
          </a:bodyPr>
          <a:lstStyle/>
          <a:p>
            <a:r>
              <a:t>Plan &amp; Req. locked (Passed)</a:t>
            </a:r>
          </a:p>
        </p:txBody>
      </p:sp>
      <p:sp>
        <p:nvSpPr>
          <p:cNvPr id="243" name="Google Shape;243;p5"/>
          <p:cNvSpPr/>
          <p:nvPr/>
        </p:nvSpPr>
        <p:spPr>
          <a:xfrm>
            <a:off x="6759245" y="5724144"/>
            <a:ext cx="146304" cy="146304"/>
          </a:xfrm>
          <a:prstGeom prst="ellipse">
            <a:avLst/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6283757" y="5934456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M2 — 25.10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100877" y="6089904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62500" lnSpcReduction="20000"/>
          </a:bodyPr>
          <a:lstStyle/>
          <a:p>
            <a:r>
              <a:t>Feasibility, DfIM &amp; CAD</a:t>
            </a:r>
          </a:p>
        </p:txBody>
      </p:sp>
      <p:sp>
        <p:nvSpPr>
          <p:cNvPr id="246" name="Google Shape;246;p5"/>
          <p:cNvSpPr/>
          <p:nvPr/>
        </p:nvSpPr>
        <p:spPr>
          <a:xfrm>
            <a:off x="10460736" y="5724144"/>
            <a:ext cx="146304" cy="146304"/>
          </a:xfrm>
          <a:prstGeom prst="ellipse">
            <a:avLst/>
          </a:prstGeom>
          <a:solidFill>
            <a:srgbClr val="C46B2B"/>
          </a:solidFill>
          <a:ln w="12700" cap="flat" cmpd="sng">
            <a:solidFill>
              <a:srgbClr val="C46B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9985248" y="5934456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M3 — 08.11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9802368" y="6089904"/>
            <a:ext cx="14630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55000" lnSpcReduction="20000"/>
          </a:bodyPr>
          <a:lstStyle/>
          <a:p>
            <a:r>
              <a:t>Design Freeze &amp; Repo Swap</a:t>
            </a:r>
          </a:p>
        </p:txBody>
      </p:sp>
      <p:sp>
        <p:nvSpPr>
          <p:cNvPr id="249" name="Google Shape;249;p5"/>
          <p:cNvSpPr/>
          <p:nvPr/>
        </p:nvSpPr>
        <p:spPr>
          <a:xfrm>
            <a:off x="548640" y="6291072"/>
            <a:ext cx="109728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50" b="1">
                <a:solidFill>
                  <a:srgbClr val="003366"/>
                </a:solidFill>
                <a:latin typeface="Calibri"/>
              </a:defRPr>
            </a:pPr>
            <a:r>
              <a:t>CERN-OHL-S-2.0 open hardware · Food-Grade Polypropylene (PP, Code #5, EU 10/2011) mold design saving 45% resin.</a:t>
            </a:r>
          </a:p>
        </p:txBody>
      </p:sp>
      <p:pic>
        <p:nvPicPr>
          <p:cNvPr id="250" name="Google Shape;250;p5" title="Screenshot 2026-10-05 230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92328"/>
            <a:ext cx="2121400" cy="46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5C8C"/>
                </a:solidFill>
                <a:latin typeface="Calibri"/>
              </a:defRPr>
            </a:pPr>
            <a:r>
              <a:t>GPE 2026/27 · OPEN SOURCE HARDWARE FOR A CIRCULAR ECONOMY ·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Calibri"/>
              </a:defRPr>
            </a:pPr>
            <a:r>
              <a:t>OpenWhisk 3S: Executive 1-Month Gantt Chart (Simplified)</a:t>
            </a:r>
          </a:p>
          <a:p>
            <a:pPr>
              <a:defRPr sz="1100" i="1">
                <a:solidFill>
                  <a:srgbClr val="334155"/>
                </a:solidFill>
                <a:latin typeface="Calibri"/>
              </a:defRPr>
            </a:pPr>
            <a:r>
              <a:t>Phase 1 Sprint (Oct 04 – Nov 08, 2026) · Grouped Overall Work Packages, Tailored Leads &amp; Material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02905"/>
              </p:ext>
            </p:extLst>
          </p:nvPr>
        </p:nvGraphicFramePr>
        <p:xfrm>
          <a:off x="731520" y="1600200"/>
          <a:ext cx="106829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218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Work Package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Owner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W1</a:t>
                      </a:r>
                      <a:br/>
                      <a:r>
                        <a:t>04–11 Oct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W2</a:t>
                      </a:r>
                      <a:br/>
                      <a:r>
                        <a:t>12–18 Oct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W3</a:t>
                      </a:r>
                      <a:br/>
                      <a:r>
                        <a:t>19–25 Oct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W4</a:t>
                      </a:r>
                      <a:br/>
                      <a:r>
                        <a:t>26 Oct–01 Nov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W5</a:t>
                      </a:r>
                      <a:br/>
                      <a:r>
                        <a:t>02–08 Nov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Product Strategy &amp; VDI 2221 Requirements</a:t>
                      </a:r>
                      <a:r>
                        <a:rPr lang="en-US" dirty="0"/>
                        <a:t>, platform</a:t>
                      </a:r>
                      <a:br>
                        <a:rPr dirty="0"/>
                      </a:br>
                      <a:r>
                        <a:rPr dirty="0"/>
                        <a:t>(3S Principle, Feasibility Pitch &amp; Vision)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dirty="0"/>
                        <a:t>Lê </a:t>
                      </a:r>
                      <a:r>
                        <a:rPr dirty="0" err="1"/>
                        <a:t>Thị</a:t>
                      </a:r>
                      <a:r>
                        <a:rPr dirty="0"/>
                        <a:t> Vân Anh</a:t>
                      </a:r>
                      <a:endParaRPr lang="en-US" dirty="0"/>
                    </a:p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Lê Văn </a:t>
                      </a:r>
                      <a:r>
                        <a:rPr lang="en-US" dirty="0" err="1"/>
                        <a:t>Đông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Requirements List, Vision Doc &amp;</a:t>
                      </a:r>
                      <a:r>
                        <a:rPr lang="en-US" dirty="0"/>
                        <a:t> Platform,</a:t>
                      </a:r>
                      <a:r>
                        <a:rPr dirty="0"/>
                        <a:t> Pitch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Component Sourcing &amp; BOM Costing</a:t>
                      </a:r>
                      <a:br/>
                      <a:r>
                        <a:t>(Motor 180, 18650 Cell &amp; QA Compliance)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Trần Thiên Nga</a:t>
                      </a:r>
                      <a:br/>
                      <a:r>
                        <a:t>(QA Lead)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VE</a:t>
                      </a:r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</a:txBody>
                  <a:tcPr anchor="ctr">
                    <a:solidFill>
                      <a:srgbClr val="E11D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E11D4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BOM </a:t>
                      </a:r>
                      <a:r>
                        <a:rPr lang="en-US" dirty="0"/>
                        <a:t>&amp; </a:t>
                      </a:r>
                      <a:r>
                        <a:rPr dirty="0"/>
                        <a:t>QA Certificate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Mechanical 3D CAD &amp; DfIM Interfaces</a:t>
                      </a:r>
                      <a:br/>
                      <a:r>
                        <a:t>(Ergonomic Shells, Dock &amp; Quick Collet)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Trần Việt Tùng</a:t>
                      </a:r>
                      <a:br/>
                      <a:r>
                        <a:t>Ngô Hoàng Quân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Free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CAD Assembly, Files &amp; Renders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Mold Development &amp; Testing</a:t>
                      </a:r>
                      <a:br>
                        <a:rPr dirty="0"/>
                      </a:br>
                      <a:r>
                        <a:rPr dirty="0"/>
                        <a:t>(Food-Grade PP, Thin-Wall &amp; Load Tests)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Võ Sỹ Hùng</a:t>
                      </a:r>
                      <a:br/>
                      <a:r>
                        <a:t>(Testing Lead)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Mold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flow Simulation &amp; Benchtop Logs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Technical Docs &amp; Assembly Manual</a:t>
                      </a:r>
                      <a:br/>
                      <a:r>
                        <a:t>(Public GitHub Architecture &amp; Guides)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Phạm Hoài Thương</a:t>
                      </a:r>
                      <a:br/>
                      <a:r>
                        <a:t>(Docs Lead)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ACTIVE</a:t>
                      </a:r>
                    </a:p>
                  </a:txBody>
                  <a:tcPr anchor="ctr">
                    <a:solidFill>
                      <a:srgbClr val="933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933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933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933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Illustrated Assembly Guide &amp; Public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Milestone Delivery &amp; Peer Handover</a:t>
                      </a:r>
                      <a:br/>
                      <a:r>
                        <a:t>(Reviews &amp; Partner Swap Handover)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dirty="0"/>
                        <a:t>Whole Team</a:t>
                      </a:r>
                      <a:br>
                        <a:rPr dirty="0"/>
                      </a:b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 M1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 M2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Calibri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★ M3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M2 Review Pitch &amp; SWAP_HANDOVER.md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150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MATERIAL SELECTION: Food-Grade Polypropylene (PP, Code #5 / EU 10/2011 &amp; FDA compliant) — Non-brittle &amp; dishwasher-safe.</a:t>
            </a:r>
          </a:p>
          <a:p>
            <a:pPr>
              <a:defRPr sz="850" i="1">
                <a:solidFill>
                  <a:srgbClr val="334155"/>
                </a:solidFill>
                <a:latin typeface="Calibri"/>
              </a:defRPr>
            </a:pPr>
            <a:r>
              <a:t>KEY MILESTONES: ★ M1 (04.10) Plan locked  |  ★ M2 (25.10) Feasibility &amp; DfIM Review  |  ★ M3 (08.11) Design Freeze &amp; Swap 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1395</Words>
  <Application>Microsoft Office PowerPoint</Application>
  <PresentationFormat>Widescreen</PresentationFormat>
  <Paragraphs>251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ChatGPT</dc:creator>
  <cp:lastModifiedBy>Anh LE</cp:lastModifiedBy>
  <cp:revision>3</cp:revision>
  <dcterms:created xsi:type="dcterms:W3CDTF">2026-10-05T09:20:20Z</dcterms:created>
  <dcterms:modified xsi:type="dcterms:W3CDTF">2026-10-06T16:31:35Z</dcterms:modified>
</cp:coreProperties>
</file>